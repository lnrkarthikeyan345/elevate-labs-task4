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 Medium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Italic.fntdata"/><Relationship Id="rId11" Type="http://schemas.openxmlformats.org/officeDocument/2006/relationships/slide" Target="slides/slide6.xml"/><Relationship Id="rId22" Type="http://schemas.openxmlformats.org/officeDocument/2006/relationships/font" Target="fonts/Urbanist-bold.fntdata"/><Relationship Id="rId10" Type="http://schemas.openxmlformats.org/officeDocument/2006/relationships/slide" Target="slides/slide5.xml"/><Relationship Id="rId21" Type="http://schemas.openxmlformats.org/officeDocument/2006/relationships/font" Target="fonts/Urbanist-regular.fntdata"/><Relationship Id="rId13" Type="http://schemas.openxmlformats.org/officeDocument/2006/relationships/slide" Target="slides/slide8.xml"/><Relationship Id="rId24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Medium-italic.fntdata"/><Relationship Id="rId6" Type="http://schemas.openxmlformats.org/officeDocument/2006/relationships/slide" Target="slides/slide1.xml"/><Relationship Id="rId18" Type="http://schemas.openxmlformats.org/officeDocument/2006/relationships/font" Target="fonts/Urbanis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85d36b5f9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85d36b5f9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85d36b5f9_14_0)">
  <p:cSld name="Generated (g3e85d36b5f9_14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5.png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564600" y="2537775"/>
            <a:ext cx="1156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Financial Sales Dashboard | Power BI 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2686050" y="3789015"/>
            <a:ext cx="68199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Data Analyst Internship Project Review | Interactive Power BI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0140"/>
            <a:ext cx="5381625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360140"/>
            <a:ext cx="5381625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70015"/>
            <a:ext cx="5381625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170015"/>
            <a:ext cx="5381625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914400" y="2684115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Analyzed a core dataset comprising </a:t>
            </a:r>
            <a:r>
              <a:rPr b="1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200 distinct financial transactions</a:t>
            </a:r>
            <a:r>
              <a:rPr b="0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, allowing for a focused and deep-dive exploratory data analysis.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6581775" y="2684115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Sales data spans across 5 major Indian metropolitan hubs: </a:t>
            </a:r>
            <a:r>
              <a:rPr b="1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Delhi, Kolkata, Chennai, Mumbai, and Bangalore</a:t>
            </a:r>
            <a:r>
              <a:rPr b="0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914400" y="5493990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Developed utilizing </a:t>
            </a:r>
            <a:r>
              <a:rPr b="1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Power BI</a:t>
            </a:r>
            <a:r>
              <a:rPr b="0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, specifically leveraging its capabilities for interactive visual storytelling and complex DAX modeling.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6581775" y="5493990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To transform raw transactional records into actionable, operational intelligence for the executive management team.</a:t>
            </a:r>
            <a:endParaRPr/>
          </a:p>
        </p:txBody>
      </p:sp>
      <p:pic>
        <p:nvPicPr>
          <p:cNvPr descr="image.png" id="101" name="Google Shape;10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725" y="170304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6100" y="170304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725" y="451291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6100" y="451291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14400" y="170304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Volume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14400" y="2160240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Dataset Size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24462" y="187449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6581775" y="1703040"/>
            <a:ext cx="1571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Geography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581775" y="2160240"/>
            <a:ext cx="1571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Locations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863262" y="187449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14400" y="4512915"/>
            <a:ext cx="10191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Tooling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14400" y="4970115"/>
            <a:ext cx="1019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Platform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10175" y="468436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581775" y="4512915"/>
            <a:ext cx="1352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Objective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581775" y="4970115"/>
            <a:ext cx="1352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Goal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877550" y="468436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Scope &amp;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1893540"/>
            <a:ext cx="52482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03065"/>
            <a:ext cx="33623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52500" y="1360140"/>
            <a:ext cx="484822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5 Interactive Pages: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Comprehensive coverage including Overall Overview, Product Analysis, Regional Performance, Payment Channels, and Customer Demographics.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52500" y="2855565"/>
            <a:ext cx="484822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Dark Mode Aesthetic: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Designed with a professional dark theme to reduce eye strain, match modern analytics software, and increase contrast for key metrics.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4350990"/>
            <a:ext cx="4848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Seamless Navigation: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Integrated custom navigation menus for frictionless movement between different analytical views.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5532090"/>
            <a:ext cx="4848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Dynamic Filtering: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Implemented comprehensive dropdown slicers allowing users to instantly slice data by region, date, and product type.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Dashboard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Design &amp; UI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37919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7461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7004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551140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7820"/>
            <a:ext cx="5534025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962025" y="2908845"/>
            <a:ext cx="47529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2.8M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62025" y="4528095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TOTAL SALES (INR)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867525" y="2170658"/>
            <a:ext cx="49906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Operational Metrics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867525" y="2770733"/>
            <a:ext cx="47529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dashboard continuously tracks these 4 primary KPIs prominently on the Overview page to assess business health at a glance.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248525" y="3913733"/>
            <a:ext cx="4371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200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Total Transactions Analyzed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248525" y="4466183"/>
            <a:ext cx="4371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3.05 / 5.0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Average Customer Feedback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248525" y="5018633"/>
            <a:ext cx="4371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6B"/>
                </a:solidFill>
                <a:latin typeface="Urbanist"/>
                <a:ea typeface="Urbanist"/>
                <a:cs typeface="Urbanist"/>
                <a:sym typeface="Urbanist"/>
              </a:rPr>
              <a:t>31.5%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Overall Transaction Success Rate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Key Performance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Indicators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7525" y="39327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7525" y="448523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7525" y="5037683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0140"/>
            <a:ext cx="11049000" cy="50216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5408265"/>
            <a:ext cx="11049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* Data indicates Delhi is the clear front-runner in sales volume, presenting a model that could be replicated in lagging markets like Kolkata and Chennai.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Regional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0140"/>
            <a:ext cx="11049000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571500" y="5589240"/>
            <a:ext cx="11049000" cy="952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857250" y="5779740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Critical Observation:</a:t>
            </a:r>
            <a:r>
              <a:rPr b="0" i="0" lang="en-US" sz="1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Sales hit their absolute peak in January but have demonstrated a persistent, month-over-month decline through July. This is a significant red flag requiring immediate business intervention.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71500" y="5589240"/>
            <a:ext cx="47625" cy="9525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Sales Trend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(Jan - Jul)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476250"/>
            <a:ext cx="11049000" cy="57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74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Customer &amp; </a:t>
            </a:r>
            <a:r>
              <a:rPr b="0" lang="en-US" sz="374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Payment Insights</a:t>
            </a:r>
            <a:endParaRPr b="0" sz="374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571500" y="1524000"/>
            <a:ext cx="5334000" cy="4381500"/>
            <a:chOff x="571500" y="1524000"/>
            <a:chExt cx="5334000" cy="4381500"/>
          </a:xfrm>
        </p:grpSpPr>
        <p:sp>
          <p:nvSpPr>
            <p:cNvPr id="176" name="Google Shape;176;p20"/>
            <p:cNvSpPr/>
            <p:nvPr/>
          </p:nvSpPr>
          <p:spPr>
            <a:xfrm>
              <a:off x="571500" y="1524000"/>
              <a:ext cx="5334000" cy="4381500"/>
            </a:xfrm>
            <a:prstGeom prst="roundRect">
              <a:avLst>
                <a:gd fmla="val 4347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952500" y="1905000"/>
              <a:ext cx="4572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9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Demographics</a:t>
              </a:r>
              <a:endParaRPr b="1" sz="259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148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Age group analysis reveals a highly concentrated demographic driving the majority of revenue.</a:t>
              </a:r>
              <a:endParaRPr b="0" sz="148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1" lang="en-US" sz="444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41 to 50 Years</a:t>
              </a:r>
              <a:endParaRPr b="1" sz="444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0" lang="en-US" sz="1480">
                  <a:solidFill>
                    <a:srgbClr val="A0AAB5"/>
                  </a:solidFill>
                  <a:latin typeface="Urbanist"/>
                  <a:ea typeface="Urbanist"/>
                  <a:cs typeface="Urbanist"/>
                  <a:sym typeface="Urbanist"/>
                </a:rPr>
                <a:t>This demographic constitutes the </a:t>
              </a:r>
              <a:r>
                <a:rPr b="1" lang="en-US" sz="148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biggest spenders</a:t>
              </a:r>
              <a:r>
                <a:rPr b="0" lang="en-US" sz="1480">
                  <a:solidFill>
                    <a:srgbClr val="A0AAB5"/>
                  </a:solidFill>
                  <a:latin typeface="Urbanist"/>
                  <a:ea typeface="Urbanist"/>
                  <a:cs typeface="Urbanist"/>
                  <a:sym typeface="Urbanist"/>
                </a:rPr>
                <a:t>. Marketing efforts should be heavily weighted towards this high-purchasing-power segment.</a:t>
              </a:r>
              <a:endParaRPr b="0" sz="1480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78" name="Google Shape;178;p20"/>
          <p:cNvGrpSpPr/>
          <p:nvPr/>
        </p:nvGrpSpPr>
        <p:grpSpPr>
          <a:xfrm>
            <a:off x="6286500" y="1524000"/>
            <a:ext cx="5334000" cy="4381500"/>
            <a:chOff x="6286500" y="1524000"/>
            <a:chExt cx="5334000" cy="4381500"/>
          </a:xfrm>
        </p:grpSpPr>
        <p:sp>
          <p:nvSpPr>
            <p:cNvPr id="179" name="Google Shape;179;p20"/>
            <p:cNvSpPr/>
            <p:nvPr/>
          </p:nvSpPr>
          <p:spPr>
            <a:xfrm>
              <a:off x="6286500" y="1524000"/>
              <a:ext cx="5334000" cy="4381500"/>
            </a:xfrm>
            <a:prstGeom prst="roundRect">
              <a:avLst>
                <a:gd fmla="val 4347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6667500" y="1905000"/>
              <a:ext cx="4572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Payment Channels</a:t>
              </a:r>
              <a:endParaRPr b="1" sz="2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Transaction data shows a completely balanced split between dominant payment ecosystems.</a:t>
              </a:r>
              <a:endParaRPr b="0" sz="1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UPI </a:t>
              </a:r>
              <a:r>
                <a:rPr b="1" lang="en-US" sz="3200">
                  <a:solidFill>
                    <a:srgbClr val="444444"/>
                  </a:solidFill>
                  <a:latin typeface="Urbanist"/>
                  <a:ea typeface="Urbanist"/>
                  <a:cs typeface="Urbanist"/>
                  <a:sym typeface="Urbanist"/>
                </a:rPr>
                <a:t>|</a:t>
              </a:r>
              <a:r>
                <a:rPr b="1" lang="en-US" sz="32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Credit Card</a:t>
              </a:r>
              <a:endParaRPr b="1" sz="3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A0AAB5"/>
                  </a:solidFill>
                  <a:latin typeface="Urbanist"/>
                  <a:ea typeface="Urbanist"/>
                  <a:cs typeface="Urbanist"/>
                  <a:sym typeface="Urbanist"/>
                </a:rPr>
                <a:t>Both methods are </a:t>
              </a:r>
              <a:r>
                <a:rPr b="1" lang="en-US" sz="16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equally popular</a:t>
              </a:r>
              <a:r>
                <a:rPr b="0" lang="en-US" sz="1600">
                  <a:solidFill>
                    <a:srgbClr val="A0AAB5"/>
                  </a:solidFill>
                  <a:latin typeface="Urbanist"/>
                  <a:ea typeface="Urbanist"/>
                  <a:cs typeface="Urbanist"/>
                  <a:sym typeface="Urbanist"/>
                </a:rPr>
                <a:t>. Business must ensure payment infrastructure for both channels is highly optimized.</a:t>
              </a:r>
              <a:endParaRPr b="0" sz="1600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71500" y="1001017"/>
            <a:ext cx="52006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Critical </a:t>
            </a:r>
            <a:r>
              <a:rPr b="0" i="0" lang="en-US" sz="3600" u="none" cap="none" strike="noStrike">
                <a:solidFill>
                  <a:srgbClr val="FF6B6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Red Flag</a:t>
            </a:r>
            <a:endParaRPr/>
          </a:p>
        </p:txBody>
      </p:sp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571500" y="1694408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Dashboard analytics have uncovered a severe operational bottleneck: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2713583"/>
            <a:ext cx="180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6B6B"/>
                </a:solidFill>
                <a:latin typeface="Urbanist"/>
                <a:ea typeface="Urbanist"/>
                <a:cs typeface="Urbanist"/>
                <a:sym typeface="Urbanist"/>
              </a:rPr>
              <a:t>Only 31.5%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3266033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of all initiated transactions are successfully completed.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4189958"/>
            <a:ext cx="4953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This exceptionally low success rate represents massive revenue leakage. It is strongly recommended to immediately investigate potential payment gateway failures, UI friction points, or server timeouts causing drop-offs.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2169765"/>
            <a:ext cx="52482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79290"/>
            <a:ext cx="52292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952500" y="1360140"/>
            <a:ext cx="4848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Replicate Success: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Study Delhi's operational strategy and replicate these practices in underperforming markets like Kolkata and Chennai.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952500" y="2541240"/>
            <a:ext cx="4848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6B"/>
                </a:solidFill>
                <a:latin typeface="Urbanist"/>
                <a:ea typeface="Urbanist"/>
                <a:cs typeface="Urbanist"/>
                <a:sym typeface="Urbanist"/>
              </a:rPr>
              <a:t>Investigate Drop-offs: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 31.5% success rate is critical. Immediately investigate payment gateway failures and transaction bottlenecks.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952500" y="3722340"/>
            <a:ext cx="4848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Reverse the Trend: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Address the continuous sales decline since January with aggressive promotional campaigns to stimulate growth.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952500" y="4903440"/>
            <a:ext cx="4848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Targeted Marketing: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The 41-50 age group are the biggest spenders; heavily focus marketing budgets on this demographic.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952500" y="6084540"/>
            <a:ext cx="4848225" cy="773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Optimize Payments:</a:t>
            </a:r>
            <a:r>
              <a:rPr b="0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Since UPI and Credit Cards are equally popular, maintain infrastructure optimization for both ecosystems.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Key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Recommendations</a:t>
            </a:r>
            <a:endParaRPr/>
          </a:p>
        </p:txBody>
      </p:sp>
      <p:pic>
        <p:nvPicPr>
          <p:cNvPr descr="image.png" id="205" name="Google Shape;20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37919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6029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4139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2249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3590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0140"/>
            <a:ext cx="538162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360140"/>
            <a:ext cx="538162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84290"/>
            <a:ext cx="538162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084290"/>
            <a:ext cx="538162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914400" y="2684115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Calculating the Success Rate % was challenging, but it taught me the immense analytical power of calculated measures in Power BI.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6581775" y="2684115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Deciding which visuals best answered specific business questions taught me to think strategically like a data analyst.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914400" y="5408265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Building a 5-page navigation structure was complex, revealing how professional, enterprise-grade dashboards are architected.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581775" y="5408265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Working with authentic financial datasets taught me how to extract meaningful, actionable business insights from raw numbers.</a:t>
            </a:r>
            <a:endParaRPr/>
          </a:p>
        </p:txBody>
      </p:sp>
      <p:pic>
        <p:nvPicPr>
          <p:cNvPr descr="image.png" id="223" name="Google Shape;22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725" y="170304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6100" y="170304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725" y="442719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6100" y="442719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914400" y="1703040"/>
            <a:ext cx="2105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Mastering DAX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914400" y="2160240"/>
            <a:ext cx="21050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Technical Skill</a:t>
            </a:r>
            <a:endParaRPr/>
          </a:p>
        </p:txBody>
      </p:sp>
      <p:pic>
        <p:nvPicPr>
          <p:cNvPr descr="image.png" id="229" name="Google Shape;22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38750" y="187449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6581775" y="1703040"/>
            <a:ext cx="259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Analytical Mindset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581775" y="2160240"/>
            <a:ext cx="2590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Visual Selection</a:t>
            </a:r>
            <a:endParaRPr/>
          </a:p>
        </p:txBody>
      </p:sp>
      <p:pic>
        <p:nvPicPr>
          <p:cNvPr descr="image.png" id="232" name="Google Shape;23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877550" y="187449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914400" y="4427190"/>
            <a:ext cx="1895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Enterprise UI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14400" y="4884390"/>
            <a:ext cx="1895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Dashboard Navigation</a:t>
            </a:r>
            <a:endParaRPr/>
          </a:p>
        </p:txBody>
      </p:sp>
      <p:pic>
        <p:nvPicPr>
          <p:cNvPr descr="image.png" id="235" name="Google Shape;235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95887" y="459864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6581775" y="4427190"/>
            <a:ext cx="22955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Real-World Data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581775" y="4884390"/>
            <a:ext cx="2295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0AAB5"/>
                </a:solidFill>
                <a:latin typeface="Urbanist"/>
                <a:ea typeface="Urbanist"/>
                <a:cs typeface="Urbanist"/>
                <a:sym typeface="Urbanist"/>
              </a:rPr>
              <a:t>Business Acumen</a:t>
            </a:r>
            <a:endParaRPr/>
          </a:p>
        </p:txBody>
      </p:sp>
      <p:pic>
        <p:nvPicPr>
          <p:cNvPr descr="image.png" id="238" name="Google Shape;238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877550" y="45986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71500" y="47625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Challenges &amp;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Learnings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id="246" name="Google Shape;24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762000" y="1905000"/>
            <a:ext cx="571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Thank </a:t>
            </a:r>
            <a:r>
              <a:rPr b="1" lang="en-US" sz="7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You</a:t>
            </a:r>
            <a:endParaRPr b="1" sz="74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762000" y="3238500"/>
            <a:ext cx="52389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250"/>
              </a:spcAft>
              <a:buNone/>
            </a:pPr>
            <a:r>
              <a:t/>
            </a:r>
            <a:endParaRPr b="0" sz="2800">
              <a:solidFill>
                <a:srgbClr val="A0AAB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